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0368" userDrawn="1">
          <p15:clr>
            <a:srgbClr val="9AA0A6"/>
          </p15:clr>
        </p15:guide>
        <p15:guide id="2" orient="horz" pos="6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4823"/>
    <a:srgbClr val="A26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23" autoAdjust="0"/>
    <p:restoredTop sz="94660"/>
  </p:normalViewPr>
  <p:slideViewPr>
    <p:cSldViewPr snapToGrid="0">
      <p:cViewPr>
        <p:scale>
          <a:sx n="50" d="100"/>
          <a:sy n="50" d="100"/>
        </p:scale>
        <p:origin x="-998" y="-1618"/>
      </p:cViewPr>
      <p:guideLst>
        <p:guide pos="10368"/>
        <p:guide orient="horz" pos="69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032"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4114800" y="3591562"/>
            <a:ext cx="2468880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4114800" y="11526522"/>
            <a:ext cx="24688800" cy="52984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63140" y="1168401"/>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63140" y="5842000"/>
            <a:ext cx="283921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245995" y="5471163"/>
            <a:ext cx="28392120" cy="912875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245995" y="14686283"/>
            <a:ext cx="28392120" cy="48005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63140" y="1168401"/>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631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6664940" y="5842000"/>
            <a:ext cx="13990320" cy="139242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67428" y="1168401"/>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67429" y="5379722"/>
            <a:ext cx="13926025"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2267429" y="8016240"/>
            <a:ext cx="13926025"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6664940" y="5379722"/>
            <a:ext cx="13994608" cy="263651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16664940" y="8016240"/>
            <a:ext cx="13994608" cy="11790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63140" y="1168401"/>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67429" y="1463040"/>
            <a:ext cx="10617040"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3994608" y="3159762"/>
            <a:ext cx="16664940" cy="155956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2267429" y="6583680"/>
            <a:ext cx="10617040"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2267429" y="1463040"/>
            <a:ext cx="10617040"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3994608" y="3159762"/>
            <a:ext cx="16664940" cy="15595600"/>
          </a:xfrm>
          <a:prstGeom prst="rect">
            <a:avLst/>
          </a:prstGeom>
          <a:noFill/>
          <a:ln>
            <a:noFill/>
          </a:ln>
        </p:spPr>
      </p:sp>
      <p:sp>
        <p:nvSpPr>
          <p:cNvPr id="64" name="Google Shape;64;p10"/>
          <p:cNvSpPr txBox="1">
            <a:spLocks noGrp="1"/>
          </p:cNvSpPr>
          <p:nvPr>
            <p:ph type="body" idx="1"/>
          </p:nvPr>
        </p:nvSpPr>
        <p:spPr>
          <a:xfrm>
            <a:off x="2267429" y="6583680"/>
            <a:ext cx="10617040" cy="121970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63140" y="1168401"/>
            <a:ext cx="28392120" cy="42418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9497059" y="-1391919"/>
            <a:ext cx="13924282" cy="2839212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807304" y="6918326"/>
            <a:ext cx="18597882"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3405504" y="26036"/>
            <a:ext cx="18597882" cy="2088261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63140" y="1168401"/>
            <a:ext cx="28392120" cy="42418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2263140" y="5842000"/>
            <a:ext cx="28392120" cy="1392428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63140" y="20340322"/>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0904220" y="20340322"/>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23248620" y="20340322"/>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3"/>
          <p:cNvSpPr txBox="1"/>
          <p:nvPr/>
        </p:nvSpPr>
        <p:spPr>
          <a:xfrm>
            <a:off x="9220204" y="1409813"/>
            <a:ext cx="19221838" cy="2725642"/>
          </a:xfrm>
          <a:prstGeom prst="rect">
            <a:avLst/>
          </a:prstGeom>
          <a:solidFill>
            <a:srgbClr val="2F5496"/>
          </a:solidFill>
          <a:ln>
            <a:noFill/>
          </a:ln>
        </p:spPr>
        <p:txBody>
          <a:bodyPr spcFirstLastPara="1" wrap="square" lIns="91425" tIns="45700" rIns="0" bIns="45700" anchor="t" anchorCtr="0">
            <a:spAutoFit/>
          </a:bodyPr>
          <a:lstStyle/>
          <a:p>
            <a:pPr algn="ctr"/>
            <a:r>
              <a:rPr lang="en-US" sz="3600" dirty="0">
                <a:solidFill>
                  <a:schemeClr val="lt1"/>
                </a:solidFill>
                <a:latin typeface="+mj-lt"/>
                <a:ea typeface="Century"/>
                <a:cs typeface="SF UI  Text" panose="00000500000000000000" pitchFamily="50" charset="0"/>
                <a:sym typeface="Century"/>
              </a:rPr>
              <a:t>DEPARTMENT OF COMPUTER SCIENCE &amp; ENGINEERING</a:t>
            </a:r>
            <a:endParaRPr lang="en-IN" sz="3600" dirty="0">
              <a:solidFill>
                <a:schemeClr val="lt1"/>
              </a:solidFill>
              <a:latin typeface="+mj-lt"/>
              <a:ea typeface="Century"/>
              <a:cs typeface="SF UI  Text" panose="00000500000000000000" pitchFamily="50" charset="0"/>
              <a:sym typeface="Century"/>
            </a:endParaRPr>
          </a:p>
          <a:p>
            <a:pPr algn="ctr">
              <a:buSzPts val="2800"/>
            </a:pPr>
            <a:r>
              <a:rPr lang="en-IN" sz="6600" dirty="0">
                <a:solidFill>
                  <a:schemeClr val="lt1"/>
                </a:solidFill>
                <a:latin typeface="SF UI  Text G 4" panose="00000800000000000000" pitchFamily="50" charset="0"/>
                <a:ea typeface="Calibri"/>
                <a:cs typeface="SF UI  Text G 4" panose="00000800000000000000" pitchFamily="50" charset="0"/>
                <a:sym typeface="Calibri"/>
              </a:rPr>
              <a:t>AI-Based Platform for Voice Cloning and Conversational Agents</a:t>
            </a:r>
          </a:p>
          <a:p>
            <a:pPr algn="ctr">
              <a:lnSpc>
                <a:spcPct val="107916"/>
              </a:lnSpc>
              <a:buClr>
                <a:schemeClr val="dk1"/>
              </a:buClr>
              <a:buSzPts val="1100"/>
            </a:pPr>
            <a:r>
              <a:rPr lang="en-US" sz="2800" b="1" dirty="0">
                <a:solidFill>
                  <a:schemeClr val="lt1"/>
                </a:solidFill>
                <a:latin typeface="Segoe UI" panose="020B0502040204020203" pitchFamily="34" charset="0"/>
                <a:ea typeface="Calibri"/>
                <a:cs typeface="Segoe UI" panose="020B0502040204020203" pitchFamily="34" charset="0"/>
                <a:sym typeface="Calibri"/>
              </a:rPr>
              <a:t>Multi-Engine Voice Cloning and Conversational AI Studio</a:t>
            </a:r>
            <a:br>
              <a:rPr lang="en-US" sz="2800" b="1" dirty="0">
                <a:solidFill>
                  <a:schemeClr val="lt1"/>
                </a:solidFill>
                <a:latin typeface="Segoe UI" panose="020B0502040204020203" pitchFamily="34" charset="0"/>
                <a:ea typeface="Calibri"/>
                <a:cs typeface="Segoe UI" panose="020B0502040204020203" pitchFamily="34" charset="0"/>
                <a:sym typeface="Calibri"/>
              </a:rPr>
            </a:br>
            <a:r>
              <a:rPr lang="en-US" sz="2400" dirty="0">
                <a:solidFill>
                  <a:schemeClr val="lt1"/>
                </a:solidFill>
                <a:latin typeface="SF UI  Text" panose="00000500000000000000" pitchFamily="50" charset="0"/>
                <a:ea typeface="Calibri"/>
                <a:cs typeface="SF UI  Text" panose="00000500000000000000" pitchFamily="50" charset="0"/>
                <a:sym typeface="Calibri"/>
              </a:rPr>
              <a:t>Presented by</a:t>
            </a:r>
            <a:r>
              <a:rPr lang="en-US" sz="3600" dirty="0">
                <a:solidFill>
                  <a:schemeClr val="lt1"/>
                </a:solidFill>
                <a:latin typeface="SF UI  Text SemBd" panose="00000400000000000000" pitchFamily="50" charset="0"/>
                <a:ea typeface="Calibri"/>
                <a:cs typeface="SF UI  Text SemBd" panose="00000400000000000000" pitchFamily="50" charset="0"/>
                <a:sym typeface="Calibri"/>
              </a:rPr>
              <a:t> Atharva Gaikwad, Arnav Raut, Harpalsing Rajput, Ayush Chougula</a:t>
            </a:r>
            <a:endParaRPr lang="en-US" sz="3600" dirty="0">
              <a:latin typeface="SF UI  Text SemBd" panose="00000400000000000000" pitchFamily="50" charset="0"/>
              <a:cs typeface="SF UI  Text SemBd" panose="00000400000000000000" pitchFamily="50" charset="0"/>
            </a:endParaRPr>
          </a:p>
        </p:txBody>
      </p:sp>
      <p:sp>
        <p:nvSpPr>
          <p:cNvPr id="86" name="Google Shape;86;p13"/>
          <p:cNvSpPr txBox="1"/>
          <p:nvPr/>
        </p:nvSpPr>
        <p:spPr>
          <a:xfrm>
            <a:off x="0" y="3574595"/>
            <a:ext cx="9220204" cy="646290"/>
          </a:xfrm>
          <a:prstGeom prst="rect">
            <a:avLst/>
          </a:prstGeom>
          <a:solidFill>
            <a:srgbClr val="FEE599"/>
          </a:solidFill>
          <a:ln w="12700">
            <a:solidFill>
              <a:schemeClr val="tx1"/>
            </a:solidFill>
          </a:ln>
        </p:spPr>
        <p:txBody>
          <a:bodyPr spcFirstLastPara="1" wrap="square" lIns="91425" tIns="45700" rIns="91425" bIns="45700" anchor="t" anchorCtr="0">
            <a:spAutoFit/>
          </a:bodyPr>
          <a:lstStyle/>
          <a:p>
            <a:pPr>
              <a:buSzPts val="1600"/>
            </a:pPr>
            <a:r>
              <a:rPr lang="en-US" sz="3600" b="1" dirty="0">
                <a:solidFill>
                  <a:schemeClr val="dk1"/>
                </a:solidFill>
                <a:latin typeface="SF UI  Text" panose="00000500000000000000" pitchFamily="50" charset="0"/>
                <a:ea typeface="Calibri"/>
                <a:cs typeface="SF UI  Text" panose="00000500000000000000" pitchFamily="50" charset="0"/>
                <a:sym typeface="Calibri"/>
              </a:rPr>
              <a:t>Faculty Guide: Prof. Neha </a:t>
            </a:r>
            <a:r>
              <a:rPr lang="en-US" sz="3600" b="1" dirty="0" err="1">
                <a:solidFill>
                  <a:schemeClr val="dk1"/>
                </a:solidFill>
                <a:latin typeface="SF UI  Text" panose="00000500000000000000" pitchFamily="50" charset="0"/>
                <a:ea typeface="Calibri"/>
                <a:cs typeface="SF UI  Text" panose="00000500000000000000" pitchFamily="50" charset="0"/>
                <a:sym typeface="Calibri"/>
              </a:rPr>
              <a:t>Chaube</a:t>
            </a:r>
            <a:endParaRPr sz="3600" b="1" dirty="0">
              <a:latin typeface="SF UI  Text" panose="00000500000000000000" pitchFamily="50" charset="0"/>
              <a:cs typeface="SF UI  Text" panose="00000500000000000000" pitchFamily="50" charset="0"/>
            </a:endParaRPr>
          </a:p>
        </p:txBody>
      </p:sp>
      <p:sp>
        <p:nvSpPr>
          <p:cNvPr id="88" name="Google Shape;88;p13"/>
          <p:cNvSpPr txBox="1"/>
          <p:nvPr/>
        </p:nvSpPr>
        <p:spPr>
          <a:xfrm>
            <a:off x="9220204" y="5148"/>
            <a:ext cx="19221838" cy="1446509"/>
          </a:xfrm>
          <a:prstGeom prst="rect">
            <a:avLst/>
          </a:prstGeom>
          <a:solidFill>
            <a:srgbClr val="B3C6E7"/>
          </a:solidFill>
          <a:ln>
            <a:noFill/>
          </a:ln>
        </p:spPr>
        <p:txBody>
          <a:bodyPr spcFirstLastPara="1" wrap="square" lIns="91425" tIns="45700" rIns="91425" bIns="45700" anchor="t" anchorCtr="0">
            <a:spAutoFit/>
          </a:bodyPr>
          <a:lstStyle/>
          <a:p>
            <a:pPr algn="ctr"/>
            <a:r>
              <a:rPr lang="en-US" sz="8800" dirty="0">
                <a:solidFill>
                  <a:srgbClr val="323F4F"/>
                </a:solidFill>
                <a:latin typeface="SF UI  Text" panose="00000500000000000000" pitchFamily="50" charset="0"/>
                <a:ea typeface="Century"/>
                <a:cs typeface="SF UI  Text" panose="00000500000000000000" pitchFamily="50" charset="0"/>
                <a:sym typeface="Century"/>
              </a:rPr>
              <a:t>MIT SCHOOL OF COMPUTING </a:t>
            </a:r>
            <a:endParaRPr sz="8800" dirty="0">
              <a:solidFill>
                <a:srgbClr val="323F4F"/>
              </a:solidFill>
              <a:latin typeface="SF UI  Text" panose="00000500000000000000" pitchFamily="50" charset="0"/>
              <a:ea typeface="Century"/>
              <a:cs typeface="SF UI  Text" panose="00000500000000000000" pitchFamily="50" charset="0"/>
              <a:sym typeface="Century"/>
            </a:endParaRPr>
          </a:p>
        </p:txBody>
      </p:sp>
      <p:sp>
        <p:nvSpPr>
          <p:cNvPr id="89" name="Google Shape;89;p13"/>
          <p:cNvSpPr txBox="1"/>
          <p:nvPr/>
        </p:nvSpPr>
        <p:spPr>
          <a:xfrm>
            <a:off x="-3345986" y="10173035"/>
            <a:ext cx="2869500" cy="523200"/>
          </a:xfrm>
          <a:prstGeom prst="rect">
            <a:avLst/>
          </a:prstGeom>
          <a:noFill/>
          <a:ln>
            <a:noFill/>
          </a:ln>
        </p:spPr>
        <p:txBody>
          <a:bodyPr spcFirstLastPara="1" wrap="square" lIns="91425" tIns="45700" rIns="91425" bIns="45700" anchor="t" anchorCtr="0">
            <a:spAutoFit/>
          </a:bodyPr>
          <a:lstStyle/>
          <a:p>
            <a:endParaRPr sz="1400">
              <a:latin typeface="SF UI  Text" panose="00000500000000000000" pitchFamily="50" charset="0"/>
              <a:cs typeface="SF UI  Text" panose="00000500000000000000" pitchFamily="50" charset="0"/>
            </a:endParaRPr>
          </a:p>
          <a:p>
            <a:endParaRPr sz="1400">
              <a:latin typeface="SF UI  Text" panose="00000500000000000000" pitchFamily="50" charset="0"/>
              <a:cs typeface="SF UI  Text" panose="00000500000000000000" pitchFamily="50" charset="0"/>
            </a:endParaRPr>
          </a:p>
        </p:txBody>
      </p:sp>
      <p:sp>
        <p:nvSpPr>
          <p:cNvPr id="2" name="Rectangle 1">
            <a:extLst>
              <a:ext uri="{FF2B5EF4-FFF2-40B4-BE49-F238E27FC236}">
                <a16:creationId xmlns:a16="http://schemas.microsoft.com/office/drawing/2014/main" id="{7DBEB6EE-8C64-F252-AF3A-346DFCDA641F}"/>
              </a:ext>
            </a:extLst>
          </p:cNvPr>
          <p:cNvSpPr/>
          <p:nvPr/>
        </p:nvSpPr>
        <p:spPr>
          <a:xfrm>
            <a:off x="552659" y="5039195"/>
            <a:ext cx="11065374" cy="91825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SF UI  Text" panose="00000500000000000000" pitchFamily="50" charset="0"/>
              <a:cs typeface="SF UI  Text" panose="00000500000000000000" pitchFamily="50" charset="0"/>
            </a:endParaRPr>
          </a:p>
        </p:txBody>
      </p:sp>
      <p:cxnSp>
        <p:nvCxnSpPr>
          <p:cNvPr id="4" name="Straight Connector 3">
            <a:extLst>
              <a:ext uri="{FF2B5EF4-FFF2-40B4-BE49-F238E27FC236}">
                <a16:creationId xmlns:a16="http://schemas.microsoft.com/office/drawing/2014/main" id="{93DC8FFC-F07C-9EA9-5992-2A7174B472F6}"/>
              </a:ext>
            </a:extLst>
          </p:cNvPr>
          <p:cNvCxnSpPr>
            <a:cxnSpLocks/>
            <a:stCxn id="2" idx="0"/>
            <a:endCxn id="2" idx="2"/>
          </p:cNvCxnSpPr>
          <p:nvPr/>
        </p:nvCxnSpPr>
        <p:spPr>
          <a:xfrm>
            <a:off x="6085346" y="5039195"/>
            <a:ext cx="0" cy="9182541"/>
          </a:xfrm>
          <a:prstGeom prst="line">
            <a:avLst/>
          </a:prstGeom>
        </p:spPr>
        <p:style>
          <a:lnRef idx="1">
            <a:schemeClr val="dk1"/>
          </a:lnRef>
          <a:fillRef idx="0">
            <a:schemeClr val="dk1"/>
          </a:fillRef>
          <a:effectRef idx="0">
            <a:schemeClr val="dk1"/>
          </a:effectRef>
          <a:fontRef idx="minor">
            <a:schemeClr val="tx1"/>
          </a:fontRef>
        </p:style>
      </p:cxnSp>
      <p:graphicFrame>
        <p:nvGraphicFramePr>
          <p:cNvPr id="3" name="Table 2">
            <a:extLst>
              <a:ext uri="{FF2B5EF4-FFF2-40B4-BE49-F238E27FC236}">
                <a16:creationId xmlns:a16="http://schemas.microsoft.com/office/drawing/2014/main" id="{CAA59DC0-393A-27A0-E91E-798E712551D9}"/>
              </a:ext>
            </a:extLst>
          </p:cNvPr>
          <p:cNvGraphicFramePr>
            <a:graphicFrameLocks noGrp="1"/>
          </p:cNvGraphicFramePr>
          <p:nvPr>
            <p:extLst>
              <p:ext uri="{D42A27DB-BD31-4B8C-83A1-F6EECF244321}">
                <p14:modId xmlns:p14="http://schemas.microsoft.com/office/powerpoint/2010/main" val="1426646676"/>
              </p:ext>
            </p:extLst>
          </p:nvPr>
        </p:nvGraphicFramePr>
        <p:xfrm>
          <a:off x="11870015" y="5039195"/>
          <a:ext cx="11286659" cy="8540141"/>
        </p:xfrm>
        <a:graphic>
          <a:graphicData uri="http://schemas.openxmlformats.org/drawingml/2006/table">
            <a:tbl>
              <a:tblPr firstRow="1" bandRow="1">
                <a:tableStyleId>{5C22544A-7EE6-4342-B048-85BDC9FD1C3A}</a:tableStyleId>
              </a:tblPr>
              <a:tblGrid>
                <a:gridCol w="655754">
                  <a:extLst>
                    <a:ext uri="{9D8B030D-6E8A-4147-A177-3AD203B41FA5}">
                      <a16:colId xmlns:a16="http://schemas.microsoft.com/office/drawing/2014/main" val="3741124579"/>
                    </a:ext>
                  </a:extLst>
                </a:gridCol>
                <a:gridCol w="4056949">
                  <a:extLst>
                    <a:ext uri="{9D8B030D-6E8A-4147-A177-3AD203B41FA5}">
                      <a16:colId xmlns:a16="http://schemas.microsoft.com/office/drawing/2014/main" val="1224544335"/>
                    </a:ext>
                  </a:extLst>
                </a:gridCol>
                <a:gridCol w="6573956">
                  <a:extLst>
                    <a:ext uri="{9D8B030D-6E8A-4147-A177-3AD203B41FA5}">
                      <a16:colId xmlns:a16="http://schemas.microsoft.com/office/drawing/2014/main" val="1043641391"/>
                    </a:ext>
                  </a:extLst>
                </a:gridCol>
              </a:tblGrid>
              <a:tr h="783888">
                <a:tc>
                  <a:txBody>
                    <a:bodyPr/>
                    <a:lstStyle/>
                    <a:p>
                      <a:pPr algn="ctr">
                        <a:buNone/>
                      </a:pPr>
                      <a:r>
                        <a:rPr lang="en-IN" sz="2800" b="1">
                          <a:latin typeface="SF UI  Text G 4" panose="00000800000000000000"/>
                        </a:rPr>
                        <a:t>No</a:t>
                      </a:r>
                      <a:endParaRPr lang="en-IN" sz="2800">
                        <a:latin typeface="SF UI  Text G 4" panose="0000080000000000000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1" dirty="0">
                          <a:latin typeface="SF UI  Text G 4" panose="00000800000000000000"/>
                        </a:rPr>
                        <a:t>Requirements</a:t>
                      </a:r>
                      <a:endParaRPr lang="en-IN" sz="2800" dirty="0">
                        <a:latin typeface="SF UI  Text G 4" panose="0000080000000000000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1" dirty="0">
                          <a:latin typeface="SF UI  Text G 4" panose="00000800000000000000"/>
                        </a:rPr>
                        <a:t>Proposed Solution</a:t>
                      </a:r>
                      <a:endParaRPr lang="en-IN" sz="2800" dirty="0">
                        <a:latin typeface="SF UI  Text G 4" panose="0000080000000000000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02632"/>
                  </a:ext>
                </a:extLst>
              </a:tr>
              <a:tr h="1095837">
                <a:tc>
                  <a:txBody>
                    <a:bodyPr/>
                    <a:lstStyle/>
                    <a:p>
                      <a:pPr algn="ctr">
                        <a:buNone/>
                      </a:pPr>
                      <a:r>
                        <a:rPr lang="en-IN" sz="2400">
                          <a:latin typeface="SF UI  Text" panose="0000050000000000000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Voice Cloning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Clone a natural voice from a short reference sample using Qwen3-TTS or Audio8-TTS, generating a reusable voice embedding.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837998"/>
                  </a:ext>
                </a:extLst>
              </a:tr>
              <a:tr h="1106094">
                <a:tc>
                  <a:txBody>
                    <a:bodyPr/>
                    <a:lstStyle/>
                    <a:p>
                      <a:pPr algn="ctr">
                        <a:buNone/>
                      </a:pPr>
                      <a:r>
                        <a:rPr lang="en-IN" sz="2400">
                          <a:latin typeface="SF UI  Text" panose="0000050000000000000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Conversational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Combine Whisper for speech recognition with the Groq Llama-3 API for reasoning and TTS for spoken replies.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4842442"/>
                  </a:ext>
                </a:extLst>
              </a:tr>
              <a:tr h="1505956">
                <a:tc>
                  <a:txBody>
                    <a:bodyPr/>
                    <a:lstStyle/>
                    <a:p>
                      <a:pPr algn="ctr">
                        <a:buNone/>
                      </a:pPr>
                      <a:r>
                        <a:rPr lang="en-IN" sz="2400">
                          <a:latin typeface="SF UI  Text" panose="0000050000000000000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Multi-Engine Voice Synthesis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Route requests between Kokoro-82M, Qwen3-TTS and IndicF5 based on speed, cloning and language needs.</a:t>
                      </a:r>
                      <a:r>
                        <a:rPr lang="en-US" sz="2400" dirty="0" err="1">
                          <a:latin typeface="SF UI  Text" panose="00000500000000000000"/>
                        </a:rPr>
                        <a:t/>
                      </a:r>
                      <a:r>
                        <a:rPr lang="en-US" sz="2400" dirty="0">
                          <a:latin typeface="SF UI  Text" panose="00000500000000000000"/>
                        </a:rP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087760"/>
                  </a:ext>
                </a:extLst>
              </a:tr>
              <a:tr h="1353778">
                <a:tc>
                  <a:txBody>
                    <a:bodyPr/>
                    <a:lstStyle/>
                    <a:p>
                      <a:pPr algn="ctr">
                        <a:buNone/>
                      </a:pPr>
                      <a:r>
                        <a:rPr lang="en-IN" sz="2400">
                          <a:latin typeface="SF UI  Text" panose="0000050000000000000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Knowledge Integration (RAG)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Embed uploaded documents with SentenceTransformers and retrieve context using Supabase pgvector.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7499681"/>
                  </a:ext>
                </a:extLst>
              </a:tr>
              <a:tr h="1347294">
                <a:tc>
                  <a:txBody>
                    <a:bodyPr/>
                    <a:lstStyle/>
                    <a:p>
                      <a:pPr algn="ctr">
                        <a:buNone/>
                      </a:pPr>
                      <a:r>
                        <a:rPr lang="en-IN" sz="2400">
                          <a:latin typeface="SF UI  Text" panose="0000050000000000000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GPU Resource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An Advanced Model Manager loads and evicts TTS models automatically based on GPU memory pressure.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3112061"/>
                  </a:ext>
                </a:extLst>
              </a:tr>
              <a:tr h="1347294">
                <a:tc>
                  <a:txBody>
                    <a:bodyPr/>
                    <a:lstStyle/>
                    <a:p>
                      <a:pPr algn="ctr">
                        <a:buNone/>
                      </a:pPr>
                      <a:r>
                        <a:rPr lang="en-IN" sz="2400">
                          <a:latin typeface="SF UI  Text" panose="0000050000000000000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800" b="0" dirty="0">
                          <a:latin typeface="SF UI  Text" panose="00000500000000000000"/>
                        </a:rPr>
                        <a:t>Storage and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SF UI  Text" panose="00000500000000000000"/>
                        </a:rPr>
                        <a:t>Use Supabase for authentication, database and storage, with a Next.js and FastAPI web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1168133"/>
                  </a:ext>
                </a:extLst>
              </a:tr>
            </a:tbl>
          </a:graphicData>
        </a:graphic>
      </p:graphicFrame>
      <p:sp>
        <p:nvSpPr>
          <p:cNvPr id="9" name="Rectangle 8">
            <a:extLst>
              <a:ext uri="{FF2B5EF4-FFF2-40B4-BE49-F238E27FC236}">
                <a16:creationId xmlns:a16="http://schemas.microsoft.com/office/drawing/2014/main" id="{31491E9D-5BB4-6EFC-0290-778AF33C3F05}"/>
              </a:ext>
            </a:extLst>
          </p:cNvPr>
          <p:cNvSpPr/>
          <p:nvPr/>
        </p:nvSpPr>
        <p:spPr>
          <a:xfrm>
            <a:off x="563200" y="5763414"/>
            <a:ext cx="5501061" cy="3865556"/>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defRPr/>
            </a:pPr>
            <a:endParaRPr lang="en-US" sz="2400" dirty="0">
              <a:solidFill>
                <a:srgbClr val="000000"/>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defRPr/>
            </a:pPr>
            <a:endParaRPr lang="en-IN" sz="2400" dirty="0">
              <a:solidFill>
                <a:srgbClr val="000000"/>
              </a:solidFill>
              <a:latin typeface="SF UI  Text" panose="00000500000000000000" pitchFamily="50" charset="0"/>
              <a:cs typeface="SF UI  Text" panose="00000500000000000000" pitchFamily="50" charset="0"/>
            </a:endParaRPr>
          </a:p>
        </p:txBody>
      </p:sp>
      <p:sp>
        <p:nvSpPr>
          <p:cNvPr id="11" name="TextBox 10">
            <a:extLst>
              <a:ext uri="{FF2B5EF4-FFF2-40B4-BE49-F238E27FC236}">
                <a16:creationId xmlns:a16="http://schemas.microsoft.com/office/drawing/2014/main" id="{AB47D99B-BC0C-E7B9-3A92-775FE587D4E1}"/>
              </a:ext>
            </a:extLst>
          </p:cNvPr>
          <p:cNvSpPr txBox="1"/>
          <p:nvPr/>
        </p:nvSpPr>
        <p:spPr>
          <a:xfrm>
            <a:off x="524956" y="5055963"/>
            <a:ext cx="5543227" cy="712824"/>
          </a:xfrm>
          <a:prstGeom prst="rect">
            <a:avLst/>
          </a:prstGeom>
          <a:solidFill>
            <a:schemeClr val="accent4">
              <a:lumMod val="60000"/>
              <a:lumOff val="40000"/>
            </a:schemeClr>
          </a:solidFill>
          <a:ln>
            <a:solidFill>
              <a:schemeClr val="tx1"/>
            </a:solidFill>
          </a:ln>
        </p:spPr>
        <p:txBody>
          <a:bodyPr wrap="square" rtlCol="0">
            <a:spAutoFit/>
          </a:bodyPr>
          <a:lstStyle/>
          <a:p>
            <a:pPr algn="ctr"/>
            <a:r>
              <a:rPr lang="en-US" dirty="0">
                <a:latin typeface="SF UI  Text" panose="00000500000000000000" pitchFamily="50" charset="0"/>
                <a:cs typeface="SF UI  Text" panose="00000500000000000000" pitchFamily="50" charset="0"/>
              </a:rPr>
              <a:t>What User Says</a:t>
            </a:r>
            <a:endParaRPr lang="en-IN" dirty="0"/>
          </a:p>
        </p:txBody>
      </p:sp>
      <p:sp>
        <p:nvSpPr>
          <p:cNvPr id="15" name="Rectangle 14">
            <a:extLst>
              <a:ext uri="{FF2B5EF4-FFF2-40B4-BE49-F238E27FC236}">
                <a16:creationId xmlns:a16="http://schemas.microsoft.com/office/drawing/2014/main" id="{01005FE6-B16D-33CF-1629-39DC9C6D749D}"/>
              </a:ext>
            </a:extLst>
          </p:cNvPr>
          <p:cNvSpPr/>
          <p:nvPr/>
        </p:nvSpPr>
        <p:spPr>
          <a:xfrm>
            <a:off x="6100547" y="10345346"/>
            <a:ext cx="5517472" cy="385043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defRPr/>
            </a:pPr>
            <a:endParaRPr lang="en-IN" sz="2400" dirty="0">
              <a:solidFill>
                <a:srgbClr val="000000"/>
              </a:solidFill>
              <a:latin typeface="SF UI  Text" panose="00000500000000000000" pitchFamily="50" charset="0"/>
              <a:cs typeface="SF UI  Text" panose="00000500000000000000" pitchFamily="50" charset="0"/>
            </a:endParaRPr>
          </a:p>
        </p:txBody>
      </p:sp>
      <p:sp>
        <p:nvSpPr>
          <p:cNvPr id="17" name="Rectangle 16">
            <a:extLst>
              <a:ext uri="{FF2B5EF4-FFF2-40B4-BE49-F238E27FC236}">
                <a16:creationId xmlns:a16="http://schemas.microsoft.com/office/drawing/2014/main" id="{517100B7-2C3D-3BC5-8F64-0B5463268150}"/>
              </a:ext>
            </a:extLst>
          </p:cNvPr>
          <p:cNvSpPr/>
          <p:nvPr/>
        </p:nvSpPr>
        <p:spPr>
          <a:xfrm>
            <a:off x="6085340" y="5778451"/>
            <a:ext cx="5522145" cy="3857712"/>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defRPr/>
            </a:pPr>
            <a:endParaRPr lang="en-US" sz="1000" dirty="0">
              <a:solidFill>
                <a:srgbClr val="000000"/>
              </a:solidFill>
              <a:latin typeface="Segoe UI" panose="020B0502040204020203" pitchFamily="34" charset="0"/>
              <a:cs typeface="Segoe UI" panose="020B0502040204020203" pitchFamily="34" charset="0"/>
            </a:endParaRPr>
          </a:p>
        </p:txBody>
      </p:sp>
      <p:sp>
        <p:nvSpPr>
          <p:cNvPr id="29" name="TextBox 28">
            <a:extLst>
              <a:ext uri="{FF2B5EF4-FFF2-40B4-BE49-F238E27FC236}">
                <a16:creationId xmlns:a16="http://schemas.microsoft.com/office/drawing/2014/main" id="{E8B36C2E-3364-49E8-B7EA-7847F4872C70}"/>
              </a:ext>
            </a:extLst>
          </p:cNvPr>
          <p:cNvSpPr txBox="1"/>
          <p:nvPr/>
        </p:nvSpPr>
        <p:spPr>
          <a:xfrm>
            <a:off x="26248032" y="5394421"/>
            <a:ext cx="3600979" cy="712824"/>
          </a:xfrm>
          <a:prstGeom prst="rect">
            <a:avLst/>
          </a:prstGeom>
          <a:solidFill>
            <a:schemeClr val="accent1"/>
          </a:solidFill>
        </p:spPr>
        <p:txBody>
          <a:bodyPr wrap="square" rtlCol="0">
            <a:spAutoFit/>
          </a:bodyPr>
          <a:lstStyle/>
          <a:p>
            <a:pPr algn="ctr"/>
            <a:r>
              <a:rPr lang="en-IN" dirty="0">
                <a:solidFill>
                  <a:schemeClr val="bg1"/>
                </a:solidFill>
              </a:rPr>
              <a:t>FLOWCHART</a:t>
            </a:r>
          </a:p>
        </p:txBody>
      </p:sp>
      <p:sp>
        <p:nvSpPr>
          <p:cNvPr id="31" name="Rectangle 30">
            <a:extLst>
              <a:ext uri="{FF2B5EF4-FFF2-40B4-BE49-F238E27FC236}">
                <a16:creationId xmlns:a16="http://schemas.microsoft.com/office/drawing/2014/main" id="{0275B3BE-AB13-5020-7B4F-A4B5E8D217C9}"/>
              </a:ext>
            </a:extLst>
          </p:cNvPr>
          <p:cNvSpPr/>
          <p:nvPr/>
        </p:nvSpPr>
        <p:spPr>
          <a:xfrm>
            <a:off x="28442042" y="0"/>
            <a:ext cx="4476358" cy="410970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dirty="0">
                <a:solidFill>
                  <a:schemeClr val="tx1"/>
                </a:solidFill>
                <a:latin typeface="SF UI  Text G 8" panose="00000800000000000000" pitchFamily="50" charset="0"/>
                <a:cs typeface="SF UI  Text G 8" panose="00000800000000000000" pitchFamily="50" charset="0"/>
              </a:rPr>
              <a:t>Class: LYAIA3</a:t>
            </a:r>
          </a:p>
          <a:p>
            <a:pPr algn="ctr"/>
            <a:r>
              <a:rPr lang="en-IN" sz="2800" dirty="0">
                <a:solidFill>
                  <a:schemeClr val="tx1"/>
                </a:solidFill>
                <a:latin typeface="SF UI  Text G 8" panose="00000800000000000000" pitchFamily="50" charset="0"/>
                <a:cs typeface="SF UI  Text G 8" panose="00000800000000000000" pitchFamily="50" charset="0"/>
              </a:rPr>
              <a:t>Team: Learn Veda</a:t>
            </a:r>
          </a:p>
          <a:p>
            <a:pPr algn="ctr"/>
            <a:r>
              <a:rPr lang="en-IN" sz="4800" dirty="0">
                <a:solidFill>
                  <a:schemeClr val="tx1"/>
                </a:solidFill>
                <a:latin typeface="SF UI  Text G 8" panose="00000800000000000000" pitchFamily="50" charset="0"/>
                <a:cs typeface="SF UI  Text G 8" panose="00000800000000000000" pitchFamily="50" charset="0"/>
              </a:rPr>
              <a:t>Group ID:</a:t>
            </a:r>
          </a:p>
          <a:p>
            <a:pPr algn="ctr"/>
            <a:r>
              <a:rPr lang="en-IN" sz="4800" dirty="0">
                <a:solidFill>
                  <a:schemeClr val="tx1"/>
                </a:solidFill>
                <a:latin typeface="SF UI  Text G 8" panose="00000800000000000000" pitchFamily="50" charset="0"/>
                <a:cs typeface="SF UI  Text G 8" panose="00000800000000000000" pitchFamily="50" charset="0"/>
              </a:rPr>
              <a:t>BCAIAA45</a:t>
            </a:r>
          </a:p>
        </p:txBody>
      </p:sp>
      <p:sp>
        <p:nvSpPr>
          <p:cNvPr id="40" name="TextBox 39">
            <a:extLst>
              <a:ext uri="{FF2B5EF4-FFF2-40B4-BE49-F238E27FC236}">
                <a16:creationId xmlns:a16="http://schemas.microsoft.com/office/drawing/2014/main" id="{7D6A1964-ED68-120B-9B6D-C70376CDD065}"/>
              </a:ext>
            </a:extLst>
          </p:cNvPr>
          <p:cNvSpPr txBox="1"/>
          <p:nvPr/>
        </p:nvSpPr>
        <p:spPr>
          <a:xfrm>
            <a:off x="6074806" y="9628970"/>
            <a:ext cx="5543227" cy="712824"/>
          </a:xfrm>
          <a:prstGeom prst="rect">
            <a:avLst/>
          </a:prstGeom>
          <a:solidFill>
            <a:schemeClr val="accent4">
              <a:lumMod val="60000"/>
              <a:lumOff val="40000"/>
            </a:schemeClr>
          </a:solidFill>
          <a:ln>
            <a:solidFill>
              <a:schemeClr val="tx1"/>
            </a:solidFill>
          </a:ln>
        </p:spPr>
        <p:txBody>
          <a:bodyPr wrap="square" rtlCol="0">
            <a:spAutoFit/>
          </a:bodyPr>
          <a:lstStyle/>
          <a:p>
            <a:pPr algn="ctr"/>
            <a:r>
              <a:rPr lang="en-US" dirty="0">
                <a:latin typeface="SF UI  Text" panose="00000500000000000000" pitchFamily="50" charset="0"/>
                <a:cs typeface="SF UI  Text" panose="00000500000000000000" pitchFamily="50" charset="0"/>
              </a:rPr>
              <a:t>What User Needs</a:t>
            </a:r>
            <a:endParaRPr lang="en-IN" dirty="0"/>
          </a:p>
        </p:txBody>
      </p:sp>
      <p:sp>
        <p:nvSpPr>
          <p:cNvPr id="41" name="TextBox 40">
            <a:extLst>
              <a:ext uri="{FF2B5EF4-FFF2-40B4-BE49-F238E27FC236}">
                <a16:creationId xmlns:a16="http://schemas.microsoft.com/office/drawing/2014/main" id="{14E3AC5E-EB79-9045-8530-78AB481F2AC6}"/>
              </a:ext>
            </a:extLst>
          </p:cNvPr>
          <p:cNvSpPr txBox="1"/>
          <p:nvPr/>
        </p:nvSpPr>
        <p:spPr>
          <a:xfrm>
            <a:off x="531579" y="9636163"/>
            <a:ext cx="5543227" cy="712824"/>
          </a:xfrm>
          <a:prstGeom prst="rect">
            <a:avLst/>
          </a:prstGeom>
          <a:solidFill>
            <a:schemeClr val="accent2">
              <a:lumMod val="60000"/>
              <a:lumOff val="40000"/>
            </a:schemeClr>
          </a:solidFill>
          <a:ln>
            <a:solidFill>
              <a:schemeClr val="tx1"/>
            </a:solidFill>
          </a:ln>
        </p:spPr>
        <p:txBody>
          <a:bodyPr wrap="square" rtlCol="0">
            <a:spAutoFit/>
          </a:bodyPr>
          <a:lstStyle/>
          <a:p>
            <a:pPr algn="ctr"/>
            <a:r>
              <a:rPr lang="en-US" dirty="0">
                <a:latin typeface="SF UI  Text" panose="00000500000000000000" pitchFamily="50" charset="0"/>
                <a:cs typeface="SF UI  Text" panose="00000500000000000000" pitchFamily="50" charset="0"/>
              </a:rPr>
              <a:t>What User Does</a:t>
            </a:r>
            <a:endParaRPr lang="en-IN" dirty="0"/>
          </a:p>
        </p:txBody>
      </p:sp>
      <p:sp>
        <p:nvSpPr>
          <p:cNvPr id="42" name="TextBox 41">
            <a:extLst>
              <a:ext uri="{FF2B5EF4-FFF2-40B4-BE49-F238E27FC236}">
                <a16:creationId xmlns:a16="http://schemas.microsoft.com/office/drawing/2014/main" id="{A6C6B384-9986-13E8-1C8D-45FF33ACA8A1}"/>
              </a:ext>
            </a:extLst>
          </p:cNvPr>
          <p:cNvSpPr txBox="1"/>
          <p:nvPr/>
        </p:nvSpPr>
        <p:spPr>
          <a:xfrm>
            <a:off x="6064261" y="5052411"/>
            <a:ext cx="5543224" cy="712824"/>
          </a:xfrm>
          <a:prstGeom prst="rect">
            <a:avLst/>
          </a:prstGeom>
          <a:solidFill>
            <a:schemeClr val="accent2">
              <a:lumMod val="60000"/>
              <a:lumOff val="40000"/>
            </a:schemeClr>
          </a:solidFill>
          <a:ln>
            <a:solidFill>
              <a:schemeClr val="tx1"/>
            </a:solidFill>
          </a:ln>
        </p:spPr>
        <p:txBody>
          <a:bodyPr wrap="square" rtlCol="0">
            <a:spAutoFit/>
          </a:bodyPr>
          <a:lstStyle/>
          <a:p>
            <a:pPr algn="ctr"/>
            <a:r>
              <a:rPr lang="en-US" dirty="0">
                <a:latin typeface="SF UI  Text" panose="00000500000000000000" pitchFamily="50" charset="0"/>
                <a:cs typeface="SF UI  Text" panose="00000500000000000000" pitchFamily="50" charset="0"/>
              </a:rPr>
              <a:t>What User Thinks</a:t>
            </a:r>
            <a:endParaRPr lang="en-IN" dirty="0"/>
          </a:p>
        </p:txBody>
      </p:sp>
      <p:sp>
        <p:nvSpPr>
          <p:cNvPr id="46" name="Rectangle 45">
            <a:extLst>
              <a:ext uri="{FF2B5EF4-FFF2-40B4-BE49-F238E27FC236}">
                <a16:creationId xmlns:a16="http://schemas.microsoft.com/office/drawing/2014/main" id="{DD93F6F9-9A45-449D-4917-14E0B629ACD7}"/>
              </a:ext>
            </a:extLst>
          </p:cNvPr>
          <p:cNvSpPr/>
          <p:nvPr/>
        </p:nvSpPr>
        <p:spPr>
          <a:xfrm>
            <a:off x="542117" y="10338242"/>
            <a:ext cx="5532689" cy="3857536"/>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defRPr/>
            </a:pPr>
            <a:endParaRPr lang="en-IN" sz="2400" dirty="0">
              <a:latin typeface="SF UI  Text" panose="00000500000000000000" pitchFamily="50" charset="0"/>
              <a:cs typeface="SF UI  Text" panose="00000500000000000000" pitchFamily="50" charset="0"/>
            </a:endParaRPr>
          </a:p>
        </p:txBody>
      </p:sp>
      <p:sp>
        <p:nvSpPr>
          <p:cNvPr id="23" name="Flowchart: Connector 22">
            <a:extLst>
              <a:ext uri="{FF2B5EF4-FFF2-40B4-BE49-F238E27FC236}">
                <a16:creationId xmlns:a16="http://schemas.microsoft.com/office/drawing/2014/main" id="{EEABD372-E4B3-179E-3507-B9AAF74C0122}"/>
              </a:ext>
            </a:extLst>
          </p:cNvPr>
          <p:cNvSpPr/>
          <p:nvPr/>
        </p:nvSpPr>
        <p:spPr>
          <a:xfrm>
            <a:off x="5211862" y="8843649"/>
            <a:ext cx="1725859" cy="1501697"/>
          </a:xfrm>
          <a:prstGeom prst="flowChartConnector">
            <a:avLst/>
          </a:prstGeom>
          <a:solidFill>
            <a:srgbClr val="CF4823"/>
          </a:solidFill>
          <a:ln w="57150">
            <a:solidFill>
              <a:schemeClr val="bg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2400" dirty="0">
                <a:solidFill>
                  <a:schemeClr val="bg1"/>
                </a:solidFill>
                <a:latin typeface="SF UI  Text G 8" panose="00000800000000000000" pitchFamily="50" charset="0"/>
                <a:cs typeface="SF UI  Text G 8" panose="00000800000000000000" pitchFamily="50" charset="0"/>
              </a:rPr>
              <a:t>USER</a:t>
            </a:r>
          </a:p>
        </p:txBody>
      </p:sp>
      <p:graphicFrame>
        <p:nvGraphicFramePr>
          <p:cNvPr id="5" name="Table 4">
            <a:extLst>
              <a:ext uri="{FF2B5EF4-FFF2-40B4-BE49-F238E27FC236}">
                <a16:creationId xmlns:a16="http://schemas.microsoft.com/office/drawing/2014/main" id="{CC3CEF15-2906-58FF-3BE5-226DEC01295F}"/>
              </a:ext>
            </a:extLst>
          </p:cNvPr>
          <p:cNvGraphicFramePr>
            <a:graphicFrameLocks noGrp="1"/>
          </p:cNvGraphicFramePr>
          <p:nvPr>
            <p:extLst>
              <p:ext uri="{D42A27DB-BD31-4B8C-83A1-F6EECF244321}">
                <p14:modId xmlns:p14="http://schemas.microsoft.com/office/powerpoint/2010/main" val="849118478"/>
              </p:ext>
            </p:extLst>
          </p:nvPr>
        </p:nvGraphicFramePr>
        <p:xfrm>
          <a:off x="1199139" y="15127932"/>
          <a:ext cx="9705917" cy="5208533"/>
        </p:xfrm>
        <a:graphic>
          <a:graphicData uri="http://schemas.openxmlformats.org/drawingml/2006/table">
            <a:tbl>
              <a:tblPr firstRow="1" bandRow="1">
                <a:tableStyleId>{073A0DAA-6AF3-43AB-8588-CEC1D06C72B9}</a:tableStyleId>
              </a:tblPr>
              <a:tblGrid>
                <a:gridCol w="9705917">
                  <a:extLst>
                    <a:ext uri="{9D8B030D-6E8A-4147-A177-3AD203B41FA5}">
                      <a16:colId xmlns:a16="http://schemas.microsoft.com/office/drawing/2014/main" val="2355348241"/>
                    </a:ext>
                  </a:extLst>
                </a:gridCol>
              </a:tblGrid>
              <a:tr h="851082">
                <a:tc>
                  <a:txBody>
                    <a:bodyPr/>
                    <a:lstStyle/>
                    <a:p>
                      <a:pPr algn="ctr"/>
                      <a:r>
                        <a:rPr lang="en-US" sz="4000" dirty="0">
                          <a:solidFill>
                            <a:schemeClr val="dk1"/>
                          </a:solidFill>
                          <a:latin typeface="SF UI  Text G 8" panose="00000800000000000000" pitchFamily="50" charset="0"/>
                          <a:cs typeface="SF UI  Text G 8" panose="00000800000000000000" pitchFamily="50" charset="0"/>
                        </a:rPr>
                        <a:t>Problem statement</a:t>
                      </a:r>
                      <a:endParaRPr lang="en-US" sz="4000" dirty="0">
                        <a:latin typeface="SF UI  Text G 8" panose="00000800000000000000" pitchFamily="50" charset="0"/>
                        <a:cs typeface="SF UI  Text G 8" panose="00000800000000000000" pitchFamily="50" charset="0"/>
                      </a:endParaRP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837378"/>
                  </a:ext>
                </a:extLst>
              </a:tr>
              <a:tr h="4294133">
                <a:tc>
                  <a:txBody>
                    <a:bodyPr/>
                    <a:lstStyle/>
                    <a:p>
                      <a:pPr algn="just">
                        <a:lnSpc>
                          <a:spcPct val="107916"/>
                        </a:lnSpc>
                        <a:buClr>
                          <a:schemeClr val="dk1"/>
                        </a:buClr>
                        <a:buSzPts val="1100"/>
                      </a:pPr>
                      <a:r>
                        <a:rPr lang="en-US" sz="2800" dirty="0">
                          <a:solidFill>
                            <a:schemeClr val="dk1"/>
                          </a:solidFill>
                          <a:latin typeface="SF UI  Text G 2" panose="00000500000000000000" pitchFamily="50" charset="0"/>
                          <a:ea typeface="Calibri"/>
                          <a:cs typeface="SF UI  Text G 2" panose="00000500000000000000" pitchFamily="50" charset="0"/>
                          <a:sym typeface="Calibri"/>
                        </a:rPr>
                        <a:t>Voice AI development today is fragmented across isolated platforms for speech recognition, reasoning, voice synthesis and analytics. This disjointed ecosystem leads to high integration overhead, inconsistent voice quality and significant friction when developers try to build and deploy personalized, conversational voice agents.</a:t>
                      </a: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400216"/>
                  </a:ext>
                </a:extLst>
              </a:tr>
            </a:tbl>
          </a:graphicData>
        </a:graphic>
      </p:graphicFrame>
      <p:graphicFrame>
        <p:nvGraphicFramePr>
          <p:cNvPr id="6" name="Table 5">
            <a:extLst>
              <a:ext uri="{FF2B5EF4-FFF2-40B4-BE49-F238E27FC236}">
                <a16:creationId xmlns:a16="http://schemas.microsoft.com/office/drawing/2014/main" id="{E311F15F-FFB3-F1D9-3ACC-4830B51279A3}"/>
              </a:ext>
            </a:extLst>
          </p:cNvPr>
          <p:cNvGraphicFramePr>
            <a:graphicFrameLocks noGrp="1"/>
          </p:cNvGraphicFramePr>
          <p:nvPr>
            <p:extLst>
              <p:ext uri="{D42A27DB-BD31-4B8C-83A1-F6EECF244321}">
                <p14:modId xmlns:p14="http://schemas.microsoft.com/office/powerpoint/2010/main" val="2044844132"/>
              </p:ext>
            </p:extLst>
          </p:nvPr>
        </p:nvGraphicFramePr>
        <p:xfrm>
          <a:off x="22804594" y="15124831"/>
          <a:ext cx="9705917" cy="5208533"/>
        </p:xfrm>
        <a:graphic>
          <a:graphicData uri="http://schemas.openxmlformats.org/drawingml/2006/table">
            <a:tbl>
              <a:tblPr firstRow="1" bandRow="1">
                <a:tableStyleId>{073A0DAA-6AF3-43AB-8588-CEC1D06C72B9}</a:tableStyleId>
              </a:tblPr>
              <a:tblGrid>
                <a:gridCol w="9705917">
                  <a:extLst>
                    <a:ext uri="{9D8B030D-6E8A-4147-A177-3AD203B41FA5}">
                      <a16:colId xmlns:a16="http://schemas.microsoft.com/office/drawing/2014/main" val="2355348241"/>
                    </a:ext>
                  </a:extLst>
                </a:gridCol>
              </a:tblGrid>
              <a:tr h="85108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000" b="1" u="none" strike="noStrike" kern="0" cap="none" spc="0" normalizeH="0" baseline="0" noProof="0" dirty="0">
                          <a:ln>
                            <a:noFill/>
                          </a:ln>
                          <a:solidFill>
                            <a:srgbClr val="000000"/>
                          </a:solidFill>
                          <a:effectLst/>
                          <a:uLnTx/>
                          <a:uFillTx/>
                          <a:latin typeface="SF UI  Text G 8" panose="00000800000000000000" pitchFamily="50" charset="0"/>
                          <a:cs typeface="SF UI  Text G 8" panose="00000800000000000000" pitchFamily="50" charset="0"/>
                          <a:sym typeface="Arial"/>
                        </a:rPr>
                        <a:t>Scope and Feasibility</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837378"/>
                  </a:ext>
                </a:extLst>
              </a:tr>
              <a:tr h="4294133">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u="none" strike="noStrike" kern="0" cap="none" spc="0" normalizeH="0" baseline="0" noProof="0" dirty="0">
                          <a:ln>
                            <a:noFill/>
                          </a:ln>
                          <a:solidFill>
                            <a:srgbClr val="000000"/>
                          </a:solidFill>
                          <a:effectLst/>
                          <a:uLnTx/>
                          <a:uFillTx/>
                          <a:latin typeface="SF UI  Text G 2" panose="00000500000000000000" pitchFamily="50" charset="0"/>
                          <a:cs typeface="SF UI  Text G 2" panose="00000500000000000000" pitchFamily="50" charset="0"/>
                          <a:sym typeface="Arial"/>
                        </a:rPr>
                        <a:t>The current prototype integrates Whisper, the Groq API and open-weight TTS models including Qwen3-TTS, Kokoro-82M and IndicF5, with Supabase handling authentication, storage and RAG. Feasibility is demonstrated through the working GPU Model Manager and voice cloning pipeline, with real-time transport, containerized deployment and voice security safeguards identified as planned extensions.</a:t>
                      </a:r>
                      <a:r>
                        <a:rPr kumimoji="0" lang="en-US" sz="2800" b="0" u="none" strike="noStrike" kern="0" cap="none" spc="0" normalizeH="0" baseline="0" noProof="0" dirty="0" err="1">
                          <a:ln>
                            <a:noFill/>
                          </a:ln>
                          <a:solidFill>
                            <a:srgbClr val="000000"/>
                          </a:solidFill>
                          <a:effectLst/>
                          <a:uLnTx/>
                          <a:uFillTx/>
                          <a:latin typeface="SF UI  Text G 2" panose="00000500000000000000" pitchFamily="50" charset="0"/>
                          <a:cs typeface="SF UI  Text G 2" panose="00000500000000000000" pitchFamily="50" charset="0"/>
                          <a:sym typeface="Arial"/>
                        </a:rPr>
                        <a:t/>
                      </a:r>
                      <a:r>
                        <a:rPr kumimoji="0" lang="en-US" sz="2800" b="0" u="none" strike="noStrike" kern="0" cap="none" spc="0" normalizeH="0" baseline="0" noProof="0" dirty="0">
                          <a:ln>
                            <a:noFill/>
                          </a:ln>
                          <a:solidFill>
                            <a:srgbClr val="000000"/>
                          </a:solidFill>
                          <a:effectLst/>
                          <a:uLnTx/>
                          <a:uFillTx/>
                          <a:latin typeface="SF UI  Text G 2" panose="00000500000000000000" pitchFamily="50" charset="0"/>
                          <a:cs typeface="SF UI  Text G 2" panose="00000500000000000000" pitchFamily="50" charset="0"/>
                          <a:sym typeface="Arial"/>
                        </a:rPr>
                        <a:t/>
                      </a:r>
                      <a:endParaRPr lang="en-IN" dirty="0">
                        <a:latin typeface="SF UI  Text G 2" panose="00000500000000000000" pitchFamily="50" charset="0"/>
                        <a:cs typeface="SF UI  Text G 2" panose="00000500000000000000" pitchFamily="50"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400216"/>
                  </a:ext>
                </a:extLst>
              </a:tr>
            </a:tbl>
          </a:graphicData>
        </a:graphic>
      </p:graphicFrame>
      <p:graphicFrame>
        <p:nvGraphicFramePr>
          <p:cNvPr id="7" name="Table 6">
            <a:extLst>
              <a:ext uri="{FF2B5EF4-FFF2-40B4-BE49-F238E27FC236}">
                <a16:creationId xmlns:a16="http://schemas.microsoft.com/office/drawing/2014/main" id="{792D29F7-E80C-CAF9-242B-0BAA3BD67C30}"/>
              </a:ext>
            </a:extLst>
          </p:cNvPr>
          <p:cNvGraphicFramePr>
            <a:graphicFrameLocks noGrp="1"/>
          </p:cNvGraphicFramePr>
          <p:nvPr>
            <p:extLst>
              <p:ext uri="{D42A27DB-BD31-4B8C-83A1-F6EECF244321}">
                <p14:modId xmlns:p14="http://schemas.microsoft.com/office/powerpoint/2010/main" val="1271130247"/>
              </p:ext>
            </p:extLst>
          </p:nvPr>
        </p:nvGraphicFramePr>
        <p:xfrm>
          <a:off x="11998179" y="15127931"/>
          <a:ext cx="9705917" cy="5208533"/>
        </p:xfrm>
        <a:graphic>
          <a:graphicData uri="http://schemas.openxmlformats.org/drawingml/2006/table">
            <a:tbl>
              <a:tblPr firstRow="1" bandRow="1">
                <a:tableStyleId>{073A0DAA-6AF3-43AB-8588-CEC1D06C72B9}</a:tableStyleId>
              </a:tblPr>
              <a:tblGrid>
                <a:gridCol w="9705917">
                  <a:extLst>
                    <a:ext uri="{9D8B030D-6E8A-4147-A177-3AD203B41FA5}">
                      <a16:colId xmlns:a16="http://schemas.microsoft.com/office/drawing/2014/main" val="2355348241"/>
                    </a:ext>
                  </a:extLst>
                </a:gridCol>
              </a:tblGrid>
              <a:tr h="851082">
                <a:tc>
                  <a:txBody>
                    <a:bodyPr/>
                    <a:lstStyle/>
                    <a:p>
                      <a:pPr algn="ctr"/>
                      <a:r>
                        <a:rPr lang="en-US" sz="4000" dirty="0">
                          <a:solidFill>
                            <a:schemeClr val="dk1"/>
                          </a:solidFill>
                          <a:latin typeface="SF UI  Text G 8" panose="00000800000000000000" pitchFamily="50" charset="0"/>
                          <a:cs typeface="SF UI  Text G 8" panose="00000800000000000000" pitchFamily="50" charset="0"/>
                        </a:rPr>
                        <a:t>Proposed Solution</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837378"/>
                  </a:ext>
                </a:extLst>
              </a:tr>
              <a:tr h="4294133">
                <a:tc>
                  <a:txBody>
                    <a:bodyPr/>
                    <a:lstStyle/>
                    <a:p>
                      <a:pPr algn="just"/>
                      <a:r>
                        <a:rPr lang="en-US" sz="2800" dirty="0">
                          <a:solidFill>
                            <a:schemeClr val="dk1"/>
                          </a:solidFill>
                          <a:latin typeface="SF UI  Text G 2" panose="00000500000000000000" pitchFamily="50" charset="0"/>
                          <a:cs typeface="SF UI  Text G 2" panose="00000500000000000000" pitchFamily="50" charset="0"/>
                        </a:rPr>
                        <a:t>Auralis is a unified Voice AI platform that combines zero-shot voice cloning, LLM-based reasoning through the Groq API and RAG-based knowledge retrieval within a single Next.js and FastAPI application. An Advanced Model Manager runs multiple GPU-heavy voice models efficiently on shared hardware, so developers get one platform instead of many disconnected tools.</a:t>
                      </a:r>
                      <a:endParaRPr lang="en-IN" dirty="0"/>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18400216"/>
                  </a:ext>
                </a:extLst>
              </a:tr>
            </a:tbl>
          </a:graphicData>
        </a:graphic>
      </p:graphicFrame>
      <p:pic>
        <p:nvPicPr>
          <p:cNvPr id="10" name="Picture 9">
            <a:extLst>
              <a:ext uri="{FF2B5EF4-FFF2-40B4-BE49-F238E27FC236}">
                <a16:creationId xmlns:a16="http://schemas.microsoft.com/office/drawing/2014/main" id="{C72B7A33-7B7C-0316-E03E-0E3101A5E874}"/>
              </a:ext>
            </a:extLst>
          </p:cNvPr>
          <p:cNvPicPr>
            <a:picLocks noChangeAspect="1"/>
          </p:cNvPicPr>
          <p:nvPr/>
        </p:nvPicPr>
        <p:blipFill>
          <a:blip r:embed="rId3"/>
          <a:stretch>
            <a:fillRect/>
          </a:stretch>
        </p:blipFill>
        <p:spPr>
          <a:xfrm>
            <a:off x="144782" y="-3641"/>
            <a:ext cx="8930640" cy="3457245"/>
          </a:xfrm>
          <a:prstGeom prst="rect">
            <a:avLst/>
          </a:prstGeom>
        </p:spPr>
      </p:pic>
      <p:sp>
        <p:nvSpPr>
          <p:cNvPr id="24" name="Rectangle 9">
            <a:extLst>
              <a:ext uri="{FF2B5EF4-FFF2-40B4-BE49-F238E27FC236}">
                <a16:creationId xmlns:a16="http://schemas.microsoft.com/office/drawing/2014/main" id="{68DD42E0-2CA4-59B4-6BFE-CC5891164B28}"/>
              </a:ext>
            </a:extLst>
          </p:cNvPr>
          <p:cNvSpPr>
            <a:spLocks noChangeArrowheads="1"/>
          </p:cNvSpPr>
          <p:nvPr/>
        </p:nvSpPr>
        <p:spPr bwMode="auto">
          <a:xfrm>
            <a:off x="6183223" y="6242653"/>
            <a:ext cx="543307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“Can I build and deploy a voice agent from a single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“Will the cloned voice actually sound natural?”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“Can my agent access my own documents and knowledge base?”</a:t>
            </a:r>
          </a:p>
        </p:txBody>
      </p:sp>
      <p:sp>
        <p:nvSpPr>
          <p:cNvPr id="25" name="Rectangle 10">
            <a:extLst>
              <a:ext uri="{FF2B5EF4-FFF2-40B4-BE49-F238E27FC236}">
                <a16:creationId xmlns:a16="http://schemas.microsoft.com/office/drawing/2014/main" id="{C0F6A605-A57E-E0CB-D0EE-2BBA07A6945B}"/>
              </a:ext>
            </a:extLst>
          </p:cNvPr>
          <p:cNvSpPr>
            <a:spLocks noChangeArrowheads="1"/>
          </p:cNvSpPr>
          <p:nvPr/>
        </p:nvSpPr>
        <p:spPr bwMode="auto">
          <a:xfrm flipH="1">
            <a:off x="655143" y="11029659"/>
            <a:ext cx="525881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Uses separate platforms for speech recognition, reasoning and voice synthesis.</a:t>
            </a:r>
            <a:r>
              <a:rPr lang="en-US" altLang="en-US" sz="2400" dirty="0">
                <a:solidFill>
                  <a:schemeClr val="tx1"/>
                </a:solidFill>
                <a:latin typeface="SF UI  Text" panose="00000500000000000000"/>
              </a:rPr>
              <a:t/>
            </a:r>
            <a:r>
              <a:rPr kumimoji="0" lang="en-US" altLang="en-US" sz="2400" b="0" i="0" u="none" strike="noStrike" cap="none" normalizeH="0" baseline="0" dirty="0">
                <a:ln>
                  <a:noFill/>
                </a:ln>
                <a:solidFill>
                  <a:schemeClr val="tx1"/>
                </a:solidFill>
                <a:effectLst/>
                <a:latin typeface="SF UI  Text" panose="00000500000000000000"/>
              </a:rP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Manually connects APIs and debugs integration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Spends significant time wiring different services together.</a:t>
            </a:r>
          </a:p>
        </p:txBody>
      </p:sp>
      <p:sp>
        <p:nvSpPr>
          <p:cNvPr id="27" name="Rectangle 12">
            <a:extLst>
              <a:ext uri="{FF2B5EF4-FFF2-40B4-BE49-F238E27FC236}">
                <a16:creationId xmlns:a16="http://schemas.microsoft.com/office/drawing/2014/main" id="{7F8D235C-44AB-EE36-F54C-102E6825CC1B}"/>
              </a:ext>
            </a:extLst>
          </p:cNvPr>
          <p:cNvSpPr>
            <a:spLocks noChangeArrowheads="1"/>
          </p:cNvSpPr>
          <p:nvPr/>
        </p:nvSpPr>
        <p:spPr bwMode="auto">
          <a:xfrm>
            <a:off x="6229874" y="11214325"/>
            <a:ext cx="52588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One unified platform for voice cloning and conversation.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High-quality, natural-sounding cloned voices.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Simple integration with their own knowledge base.</a:t>
            </a:r>
          </a:p>
        </p:txBody>
      </p:sp>
      <p:pic>
        <p:nvPicPr>
          <p:cNvPr id="39" name="Picture 38">
            <a:extLst>
              <a:ext uri="{FF2B5EF4-FFF2-40B4-BE49-F238E27FC236}">
                <a16:creationId xmlns:a16="http://schemas.microsoft.com/office/drawing/2014/main" id="{70200774-6767-CC0A-999D-CE666971755A}"/>
              </a:ext>
            </a:extLst>
          </p:cNvPr>
          <p:cNvPicPr>
            <a:picLocks noChangeAspect="1"/>
          </p:cNvPicPr>
          <p:nvPr/>
        </p:nvPicPr>
        <p:blipFill>
          <a:blip r:embed="rId4"/>
          <a:stretch>
            <a:fillRect/>
          </a:stretch>
        </p:blipFill>
        <p:spPr>
          <a:xfrm>
            <a:off x="23429752" y="6764820"/>
            <a:ext cx="9227802" cy="5752200"/>
          </a:xfrm>
          <a:prstGeom prst="rect">
            <a:avLst/>
          </a:prstGeom>
        </p:spPr>
      </p:pic>
      <p:sp>
        <p:nvSpPr>
          <p:cNvPr id="43" name="Rectangle 42">
            <a:extLst>
              <a:ext uri="{FF2B5EF4-FFF2-40B4-BE49-F238E27FC236}">
                <a16:creationId xmlns:a16="http://schemas.microsoft.com/office/drawing/2014/main" id="{06B5EDC6-1F32-9581-12CD-AEA0ED61A2B1}"/>
              </a:ext>
            </a:extLst>
          </p:cNvPr>
          <p:cNvSpPr/>
          <p:nvPr/>
        </p:nvSpPr>
        <p:spPr>
          <a:xfrm>
            <a:off x="23429752" y="5052411"/>
            <a:ext cx="9227802" cy="800638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F61F9EE2-1785-5151-5814-36EB66D60776}"/>
              </a:ext>
            </a:extLst>
          </p:cNvPr>
          <p:cNvPicPr>
            <a:picLocks noChangeAspect="1"/>
          </p:cNvPicPr>
          <p:nvPr/>
        </p:nvPicPr>
        <p:blipFill>
          <a:blip r:embed="rId5"/>
          <a:stretch>
            <a:fillRect/>
          </a:stretch>
        </p:blipFill>
        <p:spPr>
          <a:xfrm>
            <a:off x="23553895" y="6529780"/>
            <a:ext cx="8979515" cy="6198380"/>
          </a:xfrm>
          <a:prstGeom prst="rect">
            <a:avLst/>
          </a:prstGeom>
        </p:spPr>
      </p:pic>
      <p:sp>
        <p:nvSpPr>
          <p:cNvPr id="16" name="Rectangle 1">
            <a:extLst>
              <a:ext uri="{FF2B5EF4-FFF2-40B4-BE49-F238E27FC236}">
                <a16:creationId xmlns:a16="http://schemas.microsoft.com/office/drawing/2014/main" id="{B3844DB5-B4F3-9AAD-5900-3F281A68B2EB}"/>
              </a:ext>
            </a:extLst>
          </p:cNvPr>
          <p:cNvSpPr>
            <a:spLocks noChangeArrowheads="1"/>
          </p:cNvSpPr>
          <p:nvPr/>
        </p:nvSpPr>
        <p:spPr bwMode="auto">
          <a:xfrm>
            <a:off x="723842" y="6304252"/>
            <a:ext cx="526362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“Building a voice agent means stitching together many different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“Voice cloning and conversational AI are completely disconnected today.”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SF UI  Text" panose="00000500000000000000"/>
              </a:rPr>
              <a:t>“I want to create an AI voice agent without writing complex code.”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2922</TotalTime>
  <Words>519</Words>
  <Application>Microsoft Office PowerPoint</Application>
  <PresentationFormat>Custom</PresentationFormat>
  <Paragraphs>54</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Segoe UI</vt:lpstr>
      <vt:lpstr>SF UI  Text</vt:lpstr>
      <vt:lpstr>SF UI  Text G 2</vt:lpstr>
      <vt:lpstr>SF UI  Text G 4</vt:lpstr>
      <vt:lpstr>SF UI  Text G 8</vt:lpstr>
      <vt:lpstr>SF UI  Text SemBd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Arnav Raut</cp:lastModifiedBy>
  <cp:revision>19</cp:revision>
  <dcterms:modified xsi:type="dcterms:W3CDTF">2025-08-19T04:08:57Z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ies>
</file>